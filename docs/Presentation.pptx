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80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shlyn/online-retail-ii-uci?resource=downloa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87452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 ·  AIML-B  ·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RetailInsight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Pattern Analysis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Mining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029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70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  </a:t>
            </a:r>
            <a:r>
              <a:rPr lang="en-US" sz="12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SDG: </a:t>
            </a:r>
            <a:r>
              <a:rPr lang="en-US" sz="12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9 — Industry, Innovation &amp;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67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SHREYA  (RA2311026050034)  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SHAIK ARBAAZ (RA2311026050051)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799" y="41970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0" cy="2286000"/>
          </a:xfrm>
          <a:prstGeom prst="rect">
            <a:avLst/>
          </a:prstGeom>
          <a:solidFill>
            <a:srgbClr val="1A2E45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massive transactional data daily, yet most remains underutilised.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UK e-commerce data to uncover: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Products frequently bought together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Customer segments by purchasing behaviour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Seasonal demand patterns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078992"/>
            <a:ext cx="3246120" cy="2286000"/>
          </a:xfrm>
          <a:prstGeom prst="rect">
            <a:avLst/>
          </a:prstGeom>
          <a:solidFill>
            <a:srgbClr val="1A2E45"/>
          </a:solidFill>
          <a:ln w="1016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1704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 (</a:t>
            </a: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Link</a:t>
            </a: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554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48272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847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48272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/ Kaggle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139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48272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~1,067,371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48272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805,549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2724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8272" y="272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2009–Dec 2011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8272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countries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1965960" cy="98755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694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5,878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" y="4151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96312" y="3566160"/>
            <a:ext cx="1965960" cy="98755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96312" y="3694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36,969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96312" y="4151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72584" y="3566160"/>
            <a:ext cx="1965960" cy="987552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72584" y="3694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4,631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72584" y="4151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48856" y="3566160"/>
            <a:ext cx="1965960" cy="987552"/>
          </a:xfrm>
          <a:prstGeom prst="rect">
            <a:avLst/>
          </a:prstGeom>
          <a:solidFill>
            <a:srgbClr val="1A2E45"/>
          </a:solidFill>
          <a:ln w="1524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48856" y="3694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£17.7M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48856" y="4151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005840"/>
            <a:ext cx="457200" cy="457200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07592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6464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37360" y="1005840"/>
            <a:ext cx="457200" cy="457200"/>
          </a:xfrm>
          <a:prstGeom prst="lin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81328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35224" y="1005840"/>
            <a:ext cx="457200" cy="457200"/>
          </a:xfrm>
          <a:prstGeom prst="lin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522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9192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22192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33088" y="1005840"/>
            <a:ext cx="457200" cy="457200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3308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77056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01184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30952" y="1005840"/>
            <a:ext cx="457200" cy="457200"/>
          </a:xfrm>
          <a:prstGeom prst="lin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99048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28816" y="1005840"/>
            <a:ext cx="457200" cy="457200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96912" y="1536192"/>
            <a:ext cx="118872" cy="9144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15784" y="914400"/>
            <a:ext cx="1078992" cy="150876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26680" y="1005840"/>
            <a:ext cx="457200" cy="457200"/>
          </a:xfrm>
          <a:prstGeom prst="lin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70648" y="1536192"/>
            <a:ext cx="96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2633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28600" y="2971800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2971800"/>
            <a:ext cx="4114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95728" y="2971800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395728" y="2971800"/>
            <a:ext cx="41148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87168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62856" y="2971800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62856" y="2971800"/>
            <a:ext cx="4114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4296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9984" y="2971800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29984" y="2971800"/>
            <a:ext cx="41148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1424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502152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28600" y="3502152"/>
            <a:ext cx="41148" cy="38404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95728" y="3502152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395728" y="3502152"/>
            <a:ext cx="41148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87168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(Apriori)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62856" y="3502152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62856" y="3502152"/>
            <a:ext cx="41148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54296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29984" y="3502152"/>
            <a:ext cx="2011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729984" y="3502152"/>
            <a:ext cx="4114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21424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Analysis — Distributions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877824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</a:t>
            </a: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bought within 100 days — high short-term engagement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9544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 — majority are 1–10 purchase customers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90488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Monetary: </a:t>
            </a: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 at £608K — one wholesale account dominates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 — K-Means Clustering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34747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914400"/>
            <a:ext cx="4983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86200" y="914400"/>
            <a:ext cx="4572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0" y="987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2336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customers  (0.1%)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1005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12801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022592" y="1005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213×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22592" y="12801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44384" y="1005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£436,836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44384" y="12801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266176" y="1005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£1.75M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66176" y="12801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886200" y="1938528"/>
            <a:ext cx="4983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886200" y="1938528"/>
            <a:ext cx="45720" cy="9144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23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23360" y="22860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customers  (0.6%)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0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022592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104×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022592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44384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£83,086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644384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266176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£2.91M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66176" y="2304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886200" y="2962656"/>
            <a:ext cx="4983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886200" y="2962656"/>
            <a:ext cx="45720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33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Loyalists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023360" y="3310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3841 customers  (65.3%)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30540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00800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022592" y="30540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022592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44384" y="30540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£3,009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644384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8266176" y="30540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£11.56M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266176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886200" y="3986784"/>
            <a:ext cx="498348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886200" y="3986784"/>
            <a:ext cx="45720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02336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023360" y="43342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 customers  (34.0%)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400800" y="40782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463d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400800" y="43525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022592" y="40782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022592" y="43525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7644384" y="40782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£765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644384" y="43525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266176" y="40782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£1.53M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266176" y="43525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Separation — PCA Projection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59436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914400"/>
            <a:ext cx="2651760" cy="841248"/>
          </a:xfrm>
          <a:prstGeom prst="rect">
            <a:avLst/>
          </a:prstGeom>
          <a:solidFill>
            <a:srgbClr val="1A2E45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969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 (4)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1207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upper-right outliers. Extremely high frequency and monetary value — wholesale-tier buyers.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63640" y="1847088"/>
            <a:ext cx="2651760" cy="841248"/>
          </a:xfrm>
          <a:prstGeom prst="rect">
            <a:avLst/>
          </a:prstGeom>
          <a:solidFill>
            <a:srgbClr val="1A2E45"/>
          </a:solidFill>
          <a:ln w="1016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 (35)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21396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PC1. Previously high-value, now drifting — prime re-engagement targets.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2779776"/>
            <a:ext cx="2651760" cy="841248"/>
          </a:xfrm>
          <a:prstGeom prst="rect">
            <a:avLst/>
          </a:prstGeom>
          <a:solidFill>
            <a:srgbClr val="1A2E45"/>
          </a:solidFill>
          <a:ln w="1016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Pot. Loyalists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30723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cluster at origin. Largest segment; consistent mid-frequency shoppers.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63640" y="3712464"/>
            <a:ext cx="2651760" cy="841248"/>
          </a:xfrm>
          <a:prstGeom prst="rect">
            <a:avLst/>
          </a:prstGeom>
          <a:solidFill>
            <a:srgbClr val="1A2E45"/>
          </a:solidFill>
          <a:ln w="1016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3767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40050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loyalists near origin; low recency score separates them on PC2.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RFM Profiles — Radar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530352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9326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371600"/>
            <a:ext cx="3246120" cy="786384"/>
          </a:xfrm>
          <a:prstGeom prst="rect">
            <a:avLst/>
          </a:prstGeom>
          <a:solidFill>
            <a:srgbClr val="1A2E45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371600"/>
            <a:ext cx="41148" cy="7863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4264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16642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exclusive loyalty rewards &amp; early access. Protect at all costs.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249424"/>
            <a:ext cx="3246120" cy="786384"/>
          </a:xfrm>
          <a:prstGeom prst="rect">
            <a:avLst/>
          </a:prstGeom>
          <a:solidFill>
            <a:srgbClr val="1A2E45"/>
          </a:solidFill>
          <a:ln w="1016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249424"/>
            <a:ext cx="41148" cy="78638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304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5420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 with personalised discount codes. Act within 30 days.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127248"/>
            <a:ext cx="3246120" cy="786384"/>
          </a:xfrm>
          <a:prstGeom prst="rect">
            <a:avLst/>
          </a:prstGeom>
          <a:solidFill>
            <a:srgbClr val="1A2E45"/>
          </a:solidFill>
          <a:ln w="1016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3127248"/>
            <a:ext cx="41148" cy="7863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1821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Pot. Loyalists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06440" y="34198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&amp; cross-sell using association rules. Nurture toward Champion tier.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4005072"/>
            <a:ext cx="3246120" cy="786384"/>
          </a:xfrm>
          <a:prstGeom prst="rect">
            <a:avLst/>
          </a:prstGeom>
          <a:solidFill>
            <a:srgbClr val="1A2E45"/>
          </a:solidFill>
          <a:ln w="1016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4005072"/>
            <a:ext cx="41148" cy="78638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40599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42976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email sequence. Convert second purchase within 60 days.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 Rule Mining — Top 15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886968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618488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18488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18488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Found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099816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99816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13.95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99816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Lift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81144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8114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0.029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81144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062472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62472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0.69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62472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543800" y="4370832"/>
            <a:ext cx="1371600" cy="56692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54380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43800" y="4663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vs Confidence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96112"/>
            <a:ext cx="530352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9601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This Chart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417320"/>
            <a:ext cx="278892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147218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— Support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63640" y="17099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product pair appears in all transactions. Higher = more common.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278892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23408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— Confidence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63640" y="25786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antecedent, how likely is the consequent? Higher = stronger rule.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3154680"/>
            <a:ext cx="278892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3209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— Lift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63640" y="3447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 than random? Lift &gt;1 = genuine association. &gt;10 = very strong.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4023360"/>
            <a:ext cx="2788920" cy="749808"/>
          </a:xfrm>
          <a:prstGeom prst="rect">
            <a:avLst/>
          </a:prstGeom>
          <a:solidFill>
            <a:srgbClr val="1A2E45"/>
          </a:solidFill>
          <a:ln w="762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63640" y="407822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— Lift scale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63640" y="4315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highest lift (13.95). Purple = lowest lift (≥1.5 threshold).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 &amp;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RetailInsight  |  SRM Institute of Science and Technology  |  Mini Project DS AIML-B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889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" y="1088136"/>
            <a:ext cx="384048" cy="384048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088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Holiday Demand Spike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" y="1563624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accounts for ~40% of annual revenue. Inventory optimisation should begin by October to capture peak demand.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78892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0984" y="1088136"/>
            <a:ext cx="384048" cy="384048"/>
          </a:xfrm>
          <a:prstGeom prst="lin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67328" y="1088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Trinket Box Cross-Sell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00984" y="1563624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Sweetheart ↔ Strawberry ceramic trinket boxes: Lift 13.95, Confidence 69%. Strongest cross-sell pair in the dataset.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17336" y="960120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96012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088136"/>
            <a:ext cx="384048" cy="384048"/>
          </a:xfrm>
          <a:prstGeom prst="lin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11696" y="1088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Distinct Customer Tiers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45352" y="1563624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(4) drive £1.75M. 3,841 Potential Loyalists hold the most revenue opportunity (£11.56M total).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898648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98648"/>
            <a:ext cx="278892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" y="3026664"/>
            <a:ext cx="384048" cy="384048"/>
          </a:xfrm>
          <a:prstGeom prst="lin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0266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Lunch Bag Category Bundles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" y="350215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lunch bag design pairs show Lift &gt;7.6 — a clear bundle-and-discount opportunity for kids/gifting categories.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898648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898648"/>
            <a:ext cx="27889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0984" y="3026664"/>
            <a:ext cx="384048" cy="384048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67328" y="30266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High-Value At-Risk Accounts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00984" y="350215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frequent, now dormant. Average spend £83K each — targeted win-back campaigns have high ROI potential.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17336" y="2898648"/>
            <a:ext cx="278892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2898648"/>
            <a:ext cx="27889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5352" y="3026664"/>
            <a:ext cx="384048" cy="384048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1696" y="30266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Dominates (89%)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45352" y="350215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Germany &amp; EIRE are the next largest markets. International expansion strategy should target these first.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RetailInsight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1M+ raw transactions to actionable customer intelligence — this project demonstrates the full data science pipeline: cleaning, EDA, association mining, and ML-driven segmentation.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84832"/>
            <a:ext cx="393192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39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Goal 9 — Industry, Innovation &amp; Infrastructure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reproducible analytics lowers the barrier for small businesses to adopt data-driven decision making — directly supporting innovation in retail infrastructure.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2084832"/>
            <a:ext cx="434340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396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24871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Collaborative filtering for product recommendation
• Time-series forecasting (ARIMA / Prophet)
• Real-time dashboard (Streamlit / Power BI)
• Churn prediction 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3310128"/>
            <a:ext cx="914400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649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MiniProject_DS_AIML-B_2026_RetailInsight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7588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 |  Teammate A  |  Teammate B   ·   SRM Institute of Science and Technology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Business Analytics  ·  SDG Goal 9  ·  AIML-B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960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RetailInsight: Customer Purchase Pattern Analysis</dc:title>
  <dc:subject>PptxGenJS Presentation</dc:subject>
  <dc:creator>SRM AIML-B 2026</dc:creator>
  <cp:lastModifiedBy>Shreya Vijaykumar</cp:lastModifiedBy>
  <cp:revision>2</cp:revision>
  <dcterms:created xsi:type="dcterms:W3CDTF">2026-04-08T11:07:49Z</dcterms:created>
  <dcterms:modified xsi:type="dcterms:W3CDTF">2026-04-08T11:15:27Z</dcterms:modified>
</cp:coreProperties>
</file>